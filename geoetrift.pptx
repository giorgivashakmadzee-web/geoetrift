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Mukta Light" panose="020B0604020202020204" charset="0"/>
      <p:regular r:id="rId15"/>
    </p:embeddedFont>
    <p:embeddedFont>
      <p:font typeface="Prompt Medium" panose="00000600000000000000" pitchFamily="2" charset="-3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23A"/>
    <a:srgbClr val="0A0B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994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sellcaradvisor.com/facebook-marketplace-vs-craigslist-for-selling-car/" TargetMode="External"/><Relationship Id="rId10" Type="http://schemas.openxmlformats.org/officeDocument/2006/relationships/hyperlink" Target="https://tolkieniano.blogspot.com/2015/07/la-mia-collezione-su-tolkien-scelta-da.html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0023" y="1481138"/>
            <a:ext cx="738039" cy="290066"/>
          </a:xfrm>
          <a:prstGeom prst="roundRect">
            <a:avLst>
              <a:gd name="adj" fmla="val 17874"/>
            </a:avLst>
          </a:prstGeom>
          <a:solidFill>
            <a:srgbClr val="321A2C"/>
          </a:solidFill>
          <a:ln/>
        </p:spPr>
      </p:sp>
      <p:sp>
        <p:nvSpPr>
          <p:cNvPr id="4" name="Text 1"/>
          <p:cNvSpPr/>
          <p:nvPr/>
        </p:nvSpPr>
        <p:spPr>
          <a:xfrm>
            <a:off x="632594" y="1527423"/>
            <a:ext cx="1010096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GEOETRIFT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0023" y="1832893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ქართული ტექნიკის აგრეგატორის შექმნა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0023" y="2921571"/>
            <a:ext cx="46349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ჭკვიანი ალტერნატივა საჯარო API-ის არარსებობისას — პლატფორმების შეზღუდვების გადალახვა სუფთა არქიტექტურით</a:t>
            </a: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6B8F48-9641-1E5F-294C-588CD0A6E549}"/>
              </a:ext>
            </a:extLst>
          </p:cNvPr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1F12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C9A025-2771-2ABE-E7DC-9D1B17363070}"/>
              </a:ext>
            </a:extLst>
          </p:cNvPr>
          <p:cNvSpPr/>
          <p:nvPr/>
        </p:nvSpPr>
        <p:spPr>
          <a:xfrm>
            <a:off x="6194323" y="899651"/>
            <a:ext cx="2271251" cy="78166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64765B-E58F-3D34-6DDA-33D0686620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334893" y="1052896"/>
            <a:ext cx="1857375" cy="4714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EFB94A-B407-64DF-2856-0CA906F101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4323" y="2180810"/>
            <a:ext cx="2272481" cy="7818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77C7E4-83DC-0400-1CBB-AC11B218FB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043" y="2364581"/>
            <a:ext cx="1607810" cy="4143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5B2547-AFF9-10BF-DC91-1F95ED0198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4323" y="3461969"/>
            <a:ext cx="2272481" cy="7818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F89A82-A831-B372-F1F9-B2A861AED2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6745166" y="3546412"/>
            <a:ext cx="1036829" cy="544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9388" y="363438"/>
            <a:ext cx="1068884" cy="241176"/>
          </a:xfrm>
          <a:prstGeom prst="roundRect">
            <a:avLst>
              <a:gd name="adj" fmla="val 18138"/>
            </a:avLst>
          </a:prstGeom>
          <a:noFill/>
          <a:ln w="4763">
            <a:solidFill>
              <a:srgbClr val="A95B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2211" y="407194"/>
            <a:ext cx="1360438" cy="153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ᲞᲠᲝᲔᲥᲢᲘᲡ ᲮᲔᲓᲕᲐ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79388" y="648519"/>
            <a:ext cx="3350419" cy="361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რა არის GeoEtrift?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88" y="1538362"/>
            <a:ext cx="5079206" cy="28781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0956" y="1284759"/>
            <a:ext cx="190380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მიზანი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80956" y="1575420"/>
            <a:ext cx="2588344" cy="960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ერთიანი აგრეგატორი, რომელიც მოაგროვებს ელექტრონიკის განცხადებებს </a:t>
            </a:r>
            <a:r>
              <a:rPr lang="en-US" sz="10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Mymarket</a:t>
            </a: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-იდან და </a:t>
            </a:r>
            <a:r>
              <a:rPr lang="en-US" sz="10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Facebook Marketplace</a:t>
            </a: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-დან — ერთ React პანელში.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80956" y="2645569"/>
            <a:ext cx="190380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სარგებელი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80956" y="2936230"/>
            <a:ext cx="2588344" cy="576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მყიდველი აღარ ეძებს საუკეთესო შემოთავაზებას რამდენიმე ვებსაიტზე — ყველაფერი ერთ სივრცეშია.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80956" y="3622253"/>
            <a:ext cx="1971080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მთავარი პრობლემა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80956" y="3912915"/>
            <a:ext cx="2588344" cy="768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არც Facebook Marketplace-ს და არც Mymarket-ს არ აქვს უფასო, საჯარო API დამოუკიდებელი დეველოპერებისთვის.</a:t>
            </a:r>
            <a:endParaRPr lang="en-US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B6661D-450D-F8C2-8CC1-ECEB944620F5}"/>
              </a:ext>
            </a:extLst>
          </p:cNvPr>
          <p:cNvSpPr/>
          <p:nvPr/>
        </p:nvSpPr>
        <p:spPr>
          <a:xfrm>
            <a:off x="8053754" y="4846320"/>
            <a:ext cx="1090246" cy="297180"/>
          </a:xfrm>
          <a:prstGeom prst="rect">
            <a:avLst/>
          </a:prstGeom>
          <a:solidFill>
            <a:srgbClr val="0A0B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1019398"/>
            <a:ext cx="1972717" cy="299591"/>
          </a:xfrm>
          <a:prstGeom prst="roundRect">
            <a:avLst>
              <a:gd name="adj" fmla="val 17306"/>
            </a:avLst>
          </a:prstGeom>
          <a:noFill/>
          <a:ln w="4763">
            <a:solidFill>
              <a:srgbClr val="A95B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7356" y="1070446"/>
            <a:ext cx="2235250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ᲠᲐᲢᲝᲛ ᲐᲠᲘᲡ ᲔᲡ ᲐᲥᲢᲣᲐᲚᲣᲠᲘ?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1380679"/>
            <a:ext cx="6083871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რეალური პრობლემის გადაჭრა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0023" y="2040731"/>
            <a:ext cx="2585145" cy="2083296"/>
          </a:xfrm>
          <a:prstGeom prst="roundRect">
            <a:avLst>
              <a:gd name="adj" fmla="val 3111"/>
            </a:avLst>
          </a:prstGeom>
          <a:solidFill>
            <a:srgbClr val="542C49"/>
          </a:solidFill>
          <a:ln w="9525">
            <a:solidFill>
              <a:srgbClr val="6D45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3808" y="2204517"/>
            <a:ext cx="225757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🎯</a:t>
            </a: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ლოკალიზებული საჭიროება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3808" y="2725713"/>
            <a:ext cx="2257574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პირდაპირ პასუხობს ქართულ ელექტრონულ კომერციაში არსებულ საჭიროებას — ტექნიკის აგრეგაციას ერთ სივრცეში.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9428" y="2040731"/>
            <a:ext cx="2585145" cy="2083296"/>
          </a:xfrm>
          <a:prstGeom prst="roundRect">
            <a:avLst>
              <a:gd name="adj" fmla="val 3111"/>
            </a:avLst>
          </a:prstGeom>
          <a:solidFill>
            <a:srgbClr val="542C49"/>
          </a:solidFill>
          <a:ln w="9525">
            <a:solidFill>
              <a:srgbClr val="6D45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3213" y="2204517"/>
            <a:ext cx="225757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⚙️</a:t>
            </a: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Full-Stack გამოცდილება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43213" y="2725713"/>
            <a:ext cx="225757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აერთიანებს React-ის state management-ს და Node.js/Express მონაცემთა დამუშავებას ერთ პროექტში.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18833" y="2040731"/>
            <a:ext cx="2585145" cy="2083296"/>
          </a:xfrm>
          <a:prstGeom prst="roundRect">
            <a:avLst>
              <a:gd name="adj" fmla="val 3111"/>
            </a:avLst>
          </a:prstGeom>
          <a:solidFill>
            <a:srgbClr val="542C49"/>
          </a:solidFill>
          <a:ln w="9525">
            <a:solidFill>
              <a:srgbClr val="6D45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2618" y="2204517"/>
            <a:ext cx="225757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🔍</a:t>
            </a: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DOM-ის სიღრმისეული შესწავლა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82618" y="2725713"/>
            <a:ext cx="2257574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მარტივი fetch რექვესტების ნაცვლად — HTML სტრუქტურის, CSS სელექტორებისა და DOM-ის ღრმა გაგება.</a:t>
            </a:r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04B5C4-B8DD-42CD-8970-1B87B901FDC3}"/>
              </a:ext>
            </a:extLst>
          </p:cNvPr>
          <p:cNvSpPr/>
          <p:nvPr/>
        </p:nvSpPr>
        <p:spPr>
          <a:xfrm>
            <a:off x="8053754" y="4846320"/>
            <a:ext cx="1090246" cy="297180"/>
          </a:xfrm>
          <a:prstGeom prst="rect">
            <a:avLst/>
          </a:prstGeom>
          <a:solidFill>
            <a:srgbClr val="0A0B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5637" y="500583"/>
            <a:ext cx="1414388" cy="231651"/>
          </a:xfrm>
          <a:prstGeom prst="roundRect">
            <a:avLst>
              <a:gd name="adj" fmla="val 18884"/>
            </a:avLst>
          </a:prstGeom>
          <a:solidFill>
            <a:srgbClr val="321A2C"/>
          </a:solidFill>
          <a:ln/>
        </p:spPr>
      </p:sp>
      <p:sp>
        <p:nvSpPr>
          <p:cNvPr id="4" name="Text 1"/>
          <p:cNvSpPr/>
          <p:nvPr/>
        </p:nvSpPr>
        <p:spPr>
          <a:xfrm>
            <a:off x="533698" y="539576"/>
            <a:ext cx="1715467" cy="153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ᲠᲔᲐᲚᲣᲠᲘ ᲡᲘᲠᲗᲣᲚᲔᲔᲑᲘ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5637" y="776139"/>
            <a:ext cx="4803725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ცოცხალი სკრაპინგის გამოწვევები</a:t>
            </a:r>
            <a:endParaRPr lang="en-US" sz="2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350" y="1664196"/>
            <a:ext cx="4818013" cy="9196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2938" y="1808634"/>
            <a:ext cx="2157115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აგრესიული ანტი-ბოტ დაცვა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42938" y="2055316"/>
            <a:ext cx="4471988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Facebook იყენებს დახვეწილ ფაირვოლებსა და IP ლიმიტებს — ავტომატიზებული მისამართები მომენტალურად იბლოკება.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350" y="2693715"/>
            <a:ext cx="4818013" cy="9196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2938" y="2838152"/>
            <a:ext cx="2533650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არასტაბილური HTML სტრუქტურა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42938" y="3084835"/>
            <a:ext cx="4471988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სკრაპერი წყვეტს მუშაობას, როდესაც სამიზნე საიტი კლასების სახელებს ან დიზაინს ცვლის.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350" y="3723233"/>
            <a:ext cx="4818013" cy="9196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2938" y="3867671"/>
            <a:ext cx="1918543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რისკები პრეზენტაციისას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42938" y="4114354"/>
            <a:ext cx="4471988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ცოცხალ სკრაპინგზე დამოკიდებულება ზრდის გათიშვის, დაბლოკვის ან ქსელური შეფერხების რისკს კრიტიკულ მომენტში.</a:t>
            </a:r>
            <a:endParaRPr lang="en-US" sz="1000" dirty="0"/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9077" y="373707"/>
            <a:ext cx="1555849" cy="213792"/>
          </a:xfrm>
          <a:prstGeom prst="roundRect">
            <a:avLst>
              <a:gd name="adj" fmla="val 18567"/>
            </a:avLst>
          </a:prstGeom>
          <a:noFill/>
          <a:ln w="4763">
            <a:solidFill>
              <a:srgbClr val="A95B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4682" y="413891"/>
            <a:ext cx="1861840" cy="133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ᲐᲠᲥᲘᲢᲔᲥᲢᲣᲠᲣᲚᲘ ᲡᲢᲠᲐᲢᲔᲒᲘᲐ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49077" y="623664"/>
            <a:ext cx="5959153" cy="328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გადაწყვეტა: გვერდის ავლითი მიდგომა</a:t>
            </a:r>
            <a:endParaRPr lang="en-US" sz="2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077" y="1189211"/>
            <a:ext cx="3478857" cy="347885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77" y="1189211"/>
            <a:ext cx="3478857" cy="34788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20828" y="2594818"/>
            <a:ext cx="3478857" cy="667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რეალური სამუშაო გარემოს სიმულაცია ლოკალური HTML პაკეტების გამოყენებით — ალგორითმული ლოგიკა ზუსტად ისეთივეა, როგორც რეალურ სკრაპერში, თუმცა </a:t>
            </a:r>
            <a:r>
              <a:rPr lang="en-US" sz="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100%-ით სტაბილური</a:t>
            </a: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პრეზენტაციის დროს.</a:t>
            </a:r>
            <a:endParaRPr lang="en-US" sz="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E7A4D3-7C15-3DCC-C87B-36E6BBC8D27D}"/>
              </a:ext>
            </a:extLst>
          </p:cNvPr>
          <p:cNvSpPr/>
          <p:nvPr/>
        </p:nvSpPr>
        <p:spPr>
          <a:xfrm>
            <a:off x="8053754" y="4846320"/>
            <a:ext cx="1090246" cy="297180"/>
          </a:xfrm>
          <a:prstGeom prst="rect">
            <a:avLst/>
          </a:prstGeom>
          <a:solidFill>
            <a:srgbClr val="0A0B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614" y="452586"/>
            <a:ext cx="1608237" cy="293489"/>
          </a:xfrm>
          <a:prstGeom prst="roundRect">
            <a:avLst>
              <a:gd name="adj" fmla="val 17390"/>
            </a:avLst>
          </a:prstGeom>
          <a:noFill/>
          <a:ln w="4763">
            <a:solidFill>
              <a:srgbClr val="A95B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7459" y="502890"/>
            <a:ext cx="187374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ᲢᲔᲥᲜᲝᲚᲝᲒᲘᲣᲠᲘ ᲡᲢᲔᲙᲘ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1614" y="805830"/>
            <a:ext cx="5077197" cy="42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როგორ მუშაობს სისტემა?</a:t>
            </a:r>
            <a:endParaRPr lang="en-US" sz="2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614" y="1451967"/>
            <a:ext cx="379735" cy="3797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1614" y="2018556"/>
            <a:ext cx="16877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Express სერვერი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1614" y="2319189"/>
            <a:ext cx="3946922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ბექენდი მართავს რექვესტებს და ემსახურება HTML მონაცემთა პაკეტებს </a:t>
            </a: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დირექტორიიდან.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5390" y="1451967"/>
            <a:ext cx="379735" cy="3797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5390" y="2018556"/>
            <a:ext cx="1923678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Cheerio DOM პარსერი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665390" y="2319189"/>
            <a:ext cx="3946996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DOM-ის გაანალიზება, CSS სელექტორების ამოკითხვა და სტრუქტურირებული მონაცემების მომზადება.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1614" y="3341489"/>
            <a:ext cx="379735" cy="3797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1614" y="3908078"/>
            <a:ext cx="16877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სუფთა JSON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31614" y="4208711"/>
            <a:ext cx="3946922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React ფრონტენდი იღებს გასუფთავებულ JSON-ს — მზაა გამოსაყენებლად UI-ში.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5390" y="3341489"/>
            <a:ext cx="379735" cy="37973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65390" y="3908078"/>
            <a:ext cx="16877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React პანელი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665390" y="4208711"/>
            <a:ext cx="3946996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ერთიანი ინტერფეისი, რომელიც აჩვენებს ყველა განცხადებას ორივე პლატფორმიდან.</a:t>
            </a:r>
            <a:endParaRPr lang="en-US" sz="11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626AF5-F7AB-8539-5A01-44080807EA1D}"/>
              </a:ext>
            </a:extLst>
          </p:cNvPr>
          <p:cNvSpPr/>
          <p:nvPr/>
        </p:nvSpPr>
        <p:spPr>
          <a:xfrm>
            <a:off x="8053754" y="4846320"/>
            <a:ext cx="1090246" cy="297180"/>
          </a:xfrm>
          <a:prstGeom prst="rect">
            <a:avLst/>
          </a:prstGeom>
          <a:solidFill>
            <a:srgbClr val="0A0B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69023" y="453256"/>
            <a:ext cx="651793" cy="290066"/>
          </a:xfrm>
          <a:prstGeom prst="roundRect">
            <a:avLst>
              <a:gd name="adj" fmla="val 17874"/>
            </a:avLst>
          </a:prstGeom>
          <a:solidFill>
            <a:srgbClr val="321A2C"/>
          </a:solidFill>
          <a:ln/>
        </p:spPr>
      </p:sp>
      <p:sp>
        <p:nvSpPr>
          <p:cNvPr id="4" name="Text 1"/>
          <p:cNvSpPr/>
          <p:nvPr/>
        </p:nvSpPr>
        <p:spPr>
          <a:xfrm>
            <a:off x="4061594" y="499542"/>
            <a:ext cx="923851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ᲨᲔᲓᲔᲒᲘ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969023" y="805011"/>
            <a:ext cx="503567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რას ვიღებთ საბოლოოდ?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3969023" y="1465064"/>
            <a:ext cx="4634954" cy="3225105"/>
          </a:xfrm>
          <a:prstGeom prst="roundRect">
            <a:avLst>
              <a:gd name="adj" fmla="val 2009"/>
            </a:avLst>
          </a:prstGeom>
          <a:solidFill>
            <a:srgbClr val="542C49"/>
          </a:solidFill>
          <a:ln w="9525">
            <a:solidFill>
              <a:srgbClr val="6D456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78548" y="1474589"/>
            <a:ext cx="2307952" cy="2096839"/>
          </a:xfrm>
          <a:prstGeom prst="roundRect">
            <a:avLst>
              <a:gd name="adj" fmla="val 3091"/>
            </a:avLst>
          </a:prstGeom>
          <a:solidFill>
            <a:srgbClr val="542C49"/>
          </a:solidFill>
          <a:ln/>
        </p:spPr>
      </p:sp>
      <p:sp>
        <p:nvSpPr>
          <p:cNvPr id="8" name="Text 5"/>
          <p:cNvSpPr/>
          <p:nvPr/>
        </p:nvSpPr>
        <p:spPr>
          <a:xfrm>
            <a:off x="4132808" y="1628849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🔒</a:t>
            </a: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სტაბილურობა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132808" y="1935733"/>
            <a:ext cx="1999431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პრეზენტაციის დღეს 100%-ით საიმედო — არანაირი დაბლოკვა, არანაირი შეფერხება.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86500" y="1474589"/>
            <a:ext cx="2307952" cy="2096839"/>
          </a:xfrm>
          <a:prstGeom prst="rect">
            <a:avLst/>
          </a:prstGeom>
          <a:solidFill>
            <a:srgbClr val="542C49"/>
          </a:solidFill>
          <a:ln/>
        </p:spPr>
      </p:sp>
      <p:sp>
        <p:nvSpPr>
          <p:cNvPr id="11" name="Shape 8"/>
          <p:cNvSpPr/>
          <p:nvPr/>
        </p:nvSpPr>
        <p:spPr>
          <a:xfrm>
            <a:off x="6286500" y="1474589"/>
            <a:ext cx="19050" cy="2096839"/>
          </a:xfrm>
          <a:prstGeom prst="roundRect">
            <a:avLst>
              <a:gd name="adj" fmla="val 340200"/>
            </a:avLst>
          </a:prstGeom>
          <a:solidFill>
            <a:srgbClr val="6D4562"/>
          </a:solidFill>
          <a:ln/>
        </p:spPr>
      </p:sp>
      <p:sp>
        <p:nvSpPr>
          <p:cNvPr id="12" name="Text 9"/>
          <p:cNvSpPr/>
          <p:nvPr/>
        </p:nvSpPr>
        <p:spPr>
          <a:xfrm>
            <a:off x="6440760" y="1628849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🧠</a:t>
            </a: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სწორი ლოგიკა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40760" y="1935733"/>
            <a:ext cx="1999431" cy="148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ალგორითმული ნაკადი ზუსტად ისეთივეა, როგორც რეალურ სკრაპერში — სრული ტექნიკური დემონსტრაცია.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978548" y="3571429"/>
            <a:ext cx="4615904" cy="1109216"/>
          </a:xfrm>
          <a:prstGeom prst="rect">
            <a:avLst/>
          </a:prstGeom>
          <a:solidFill>
            <a:srgbClr val="542C49"/>
          </a:solidFill>
          <a:ln/>
        </p:spPr>
      </p:sp>
      <p:sp>
        <p:nvSpPr>
          <p:cNvPr id="15" name="Shape 12"/>
          <p:cNvSpPr/>
          <p:nvPr/>
        </p:nvSpPr>
        <p:spPr>
          <a:xfrm>
            <a:off x="3978548" y="3571429"/>
            <a:ext cx="4615904" cy="19050"/>
          </a:xfrm>
          <a:prstGeom prst="roundRect">
            <a:avLst>
              <a:gd name="adj" fmla="val 340200"/>
            </a:avLst>
          </a:prstGeom>
          <a:solidFill>
            <a:srgbClr val="6D4562"/>
          </a:solidFill>
          <a:ln/>
        </p:spPr>
      </p:sp>
      <p:sp>
        <p:nvSpPr>
          <p:cNvPr id="16" name="Text 13"/>
          <p:cNvSpPr/>
          <p:nvPr/>
        </p:nvSpPr>
        <p:spPr>
          <a:xfrm>
            <a:off x="4132808" y="3725689"/>
            <a:ext cx="190284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✅</a:t>
            </a: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ეთიკური მიდგომა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132808" y="4032572"/>
            <a:ext cx="43073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აქტიური ბოტინგის თავიდან არიდება — პლატფორმების წესების დაცვა პრიორიტეტია.</a:t>
            </a:r>
            <a:endParaRPr lang="en-US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EE150C-5FB4-9C49-77BD-174F671C3FAC}"/>
              </a:ext>
            </a:extLst>
          </p:cNvPr>
          <p:cNvSpPr/>
          <p:nvPr/>
        </p:nvSpPr>
        <p:spPr>
          <a:xfrm>
            <a:off x="8053754" y="4846320"/>
            <a:ext cx="1090246" cy="297180"/>
          </a:xfrm>
          <a:prstGeom prst="rect">
            <a:avLst/>
          </a:prstGeom>
          <a:solidFill>
            <a:srgbClr val="0A0B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511225"/>
            <a:ext cx="764307" cy="299591"/>
          </a:xfrm>
          <a:prstGeom prst="roundRect">
            <a:avLst>
              <a:gd name="adj" fmla="val 17306"/>
            </a:avLst>
          </a:prstGeom>
          <a:noFill/>
          <a:ln w="4763">
            <a:solidFill>
              <a:srgbClr val="A95B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7356" y="562273"/>
            <a:ext cx="1026840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ᲨᲔᲯᲐᲛᲔᲑᲐ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872505"/>
            <a:ext cx="38862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დასკვნა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0023" y="1686818"/>
            <a:ext cx="26113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რას აჩვენებს პროექტი?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0023" y="2055391"/>
            <a:ext cx="384378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GeoEtrift წარმატებით აჩვენებს </a:t>
            </a:r>
            <a:r>
              <a:rPr lang="en-US" sz="12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full-stack ინტეგრაციას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და მონაცემთა მანიპულაციას რეალური პრობლემის გადაჭრის კონტექსტში.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0023" y="2934965"/>
            <a:ext cx="3843784" cy="1643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React + Node.js/Express + Cheerio სრული ინტეგრაცია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DOM პარსინგის პრაქტიკული გამოყენება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არქიტექტურული გადაწყვეტა API-ის გარეშე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პრეზენტაციის სტაბილურობის პრიორიტეტიზაცია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53855" y="1532558"/>
            <a:ext cx="4065984" cy="3099643"/>
          </a:xfrm>
          <a:prstGeom prst="roundRect">
            <a:avLst>
              <a:gd name="adj" fmla="val 3584"/>
            </a:avLst>
          </a:prstGeom>
          <a:solidFill>
            <a:srgbClr val="A95B95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808116" y="1686818"/>
            <a:ext cx="24666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მთავარი შეტყობინება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08116" y="2055391"/>
            <a:ext cx="375746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საჯარო API-ის არარსებობა არ ნიშნავს პროექტის შეუძლებლობას — ჭკვიანი არქიტექტურა ყოველთვის პოულობს გზას.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8116" y="3008188"/>
            <a:ext cx="3757464" cy="1153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808116" y="3231803"/>
            <a:ext cx="3757464" cy="498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 err="1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გმადლობთ</a:t>
            </a:r>
            <a:r>
              <a:rPr lang="en-US" sz="12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ყურადღებისთვის! 🙏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ka-GE" sz="1200" dirty="0" err="1">
                <a:solidFill>
                  <a:srgbClr val="000000"/>
                </a:solidFill>
                <a:cs typeface="Mukta Light" pitchFamily="34" charset="-120"/>
              </a:rPr>
              <a:t>ავტორი:გიორგი</a:t>
            </a:r>
            <a:r>
              <a:rPr lang="ka-GE" sz="1200" dirty="0">
                <a:solidFill>
                  <a:srgbClr val="000000"/>
                </a:solidFill>
                <a:cs typeface="Mukta Light" pitchFamily="34" charset="-120"/>
              </a:rPr>
              <a:t> ვაშაყმაძე</a:t>
            </a:r>
            <a:endParaRPr lang="en-US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6B0A9B-20BD-2A45-F986-4517ACA3A53E}"/>
              </a:ext>
            </a:extLst>
          </p:cNvPr>
          <p:cNvSpPr/>
          <p:nvPr/>
        </p:nvSpPr>
        <p:spPr>
          <a:xfrm>
            <a:off x="8053754" y="4846320"/>
            <a:ext cx="1090246" cy="297180"/>
          </a:xfrm>
          <a:prstGeom prst="rect">
            <a:avLst/>
          </a:prstGeom>
          <a:solidFill>
            <a:srgbClr val="0A0B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395</Words>
  <Application>Microsoft Office PowerPoint</Application>
  <PresentationFormat>On-screen Show (16:9)</PresentationFormat>
  <Paragraphs>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Mukta Light</vt:lpstr>
      <vt:lpstr>Consolas</vt:lpstr>
      <vt:lpstr>Arial</vt:lpstr>
      <vt:lpstr>Prompt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giorgi</cp:lastModifiedBy>
  <cp:revision>2</cp:revision>
  <dcterms:created xsi:type="dcterms:W3CDTF">2026-05-29T17:25:10Z</dcterms:created>
  <dcterms:modified xsi:type="dcterms:W3CDTF">2026-05-29T13:49:41Z</dcterms:modified>
</cp:coreProperties>
</file>